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Segoe UI"/>
              </a:rPr>
              <a:t>ISBM CONFERENCE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241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Segoe UI"/>
              </a:rPr>
              <a:t>Improving Java Code Generation
with Parameter-Efficient Fine-Tuning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Segoe UI"/>
              </a:rPr>
              <a:t>QLoRA  •  Bayesian Hyperparameter Optimization  •  Controlled Repair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BD5E1"/>
                </a:solidFill>
                <a:latin typeface="Segoe UI"/>
              </a:rPr>
              <a:t>Pham Quynh Tran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Ho Chi Minh City University of Technology, VNU-HCM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2578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CBD5E1"/>
                </a:solidFill>
                <a:latin typeface="Segoe UI"/>
              </a:rPr>
              <a:t>CodeLlama-7B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5257800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CBD5E1"/>
                </a:solidFill>
                <a:latin typeface="Segoe UI"/>
              </a:rPr>
              <a:t>Qwen2.5-Coder-32B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52578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CBD5E1"/>
                </a:solidFill>
                <a:latin typeface="Segoe UI"/>
              </a:rPr>
              <a:t>HumanEval-Java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Outline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984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53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Motivation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19" y="109728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19" y="12984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59" y="1353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Related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8" y="109728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8" y="12984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Segoe U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398" y="1353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Proposed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1460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7157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Segoe U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7706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QLoRA &amp; Bayesian Optimization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19" y="251460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19" y="27157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Segoe U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59" y="27706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Evaluation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8" y="251460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8" y="27157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Segoe U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8" y="27706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Results — CodeLlama-7B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3192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133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Segoe U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1879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Results — Qwen2.5-Coder-32B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19" y="393192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19" y="4133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Segoe U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59" y="41879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Demo Prototype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58" y="393192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8" y="4133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Segoe U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398" y="41879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Segoe U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01  — 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5303520" cy="512064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Segoe U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•  General-purpose LLMs underperform on Java-specific code generation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•  Full fine-tuning is costly and impractical on consumer GPUs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•  Hyperparameters (LoRA rank, LR, dropout) strongly affect code quality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•  Benchmark: MultiPL-E Java — CodeLlama-7B baseline ≈ 29.2% Pass@1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303520" cy="5120640"/>
          </a:xfrm>
          <a:prstGeom prst="roundRect">
            <a:avLst>
              <a:gd name="adj" fmla="val 8000"/>
            </a:avLst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Segoe UI"/>
              </a:rPr>
              <a:t>Research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•  Specialize LLMs for Java via PEFT (QLoRA)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•  Automate hyperparameter search with Bayesian Optimization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•  Build a reproducible train → merge → evaluate pipeline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•  Improve compile-time correctness with prompt &amp; repair strategies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02  —  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PEFT for code LLMs — prior work focuses on Python / C++, not Java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2377440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Study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234440"/>
            <a:ext cx="2926080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Focus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234440"/>
            <a:ext cx="1371600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Lang.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234440"/>
            <a:ext cx="3657600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Key finding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2377440" cy="960120"/>
          </a:xfrm>
          <a:prstGeom prst="rect">
            <a:avLst/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F8FAFC"/>
                </a:solidFill>
                <a:latin typeface="Segoe UI"/>
              </a:rPr>
              <a:t>  Li et al. (2024–25)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828800"/>
            <a:ext cx="2926080" cy="9601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F8FAFC"/>
                </a:solidFill>
                <a:latin typeface="Segoe UI"/>
              </a:rPr>
              <a:t>  Secure code generation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828800"/>
            <a:ext cx="1371600" cy="9601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C/C++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828800"/>
            <a:ext cx="3657600" cy="9601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F8FAFC"/>
                </a:solidFill>
                <a:latin typeface="Segoe UI"/>
              </a:rPr>
              <a:t>  LoRA &amp; IA³ beat full 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62072"/>
            <a:ext cx="2377440" cy="960120"/>
          </a:xfrm>
          <a:prstGeom prst="rect">
            <a:avLst/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F8FAFC"/>
                </a:solidFill>
                <a:latin typeface="Segoe UI"/>
              </a:rPr>
              <a:t>  Weyssow et al. (2024)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862072"/>
            <a:ext cx="2926080" cy="9601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F8FAFC"/>
                </a:solidFill>
                <a:latin typeface="Segoe UI"/>
              </a:rPr>
              <a:t>  PEFT survey for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862072"/>
            <a:ext cx="1371600" cy="9601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Python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862072"/>
            <a:ext cx="3657600" cy="9601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F8FAFC"/>
                </a:solidFill>
                <a:latin typeface="Segoe UI"/>
              </a:rPr>
              <a:t>  LoRA / QLoRA most effective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95344"/>
            <a:ext cx="2377440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0B1220"/>
                </a:solidFill>
                <a:latin typeface="Segoe UI"/>
              </a:rPr>
              <a:t>  This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3895344"/>
            <a:ext cx="2926080" cy="96012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8FAFC"/>
                </a:solidFill>
                <a:latin typeface="Segoe UI"/>
              </a:rPr>
              <a:t>  Java completion + HPO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895344"/>
            <a:ext cx="1371600" cy="96012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Java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895344"/>
            <a:ext cx="3657600" cy="96012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8FAFC"/>
                </a:solidFill>
                <a:latin typeface="Segoe UI"/>
              </a:rPr>
              <a:t>  QLoRA + BO + repair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920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Segoe UI"/>
              </a:rPr>
              <a:t>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406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Limited evidence on Java-specific PEFT pipelines with automated hyperparameter tuning and post-generation compile repair on HumanEval-Java.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03  —  Proposed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1828800" cy="1234440"/>
          </a:xfrm>
          <a:prstGeom prst="roundRect">
            <a:avLst>
              <a:gd name="adj" fmla="val 15000"/>
            </a:avLst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Input
Prompt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Problem description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40" y="2194560"/>
            <a:ext cx="292608" cy="219456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5768" y="1691640"/>
            <a:ext cx="1828800" cy="123444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Pre-
processing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Template &amp; tokenize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90288" y="2194560"/>
            <a:ext cx="292608" cy="219456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28616" y="1691640"/>
            <a:ext cx="1828800" cy="1234440"/>
          </a:xfrm>
          <a:prstGeom prst="roundRect">
            <a:avLst>
              <a:gd name="adj" fmla="val 15000"/>
            </a:avLst>
          </a:prstGeom>
          <a:solidFill>
            <a:srgbClr val="155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LLM +
QLoRA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Code generation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803136" y="2194560"/>
            <a:ext cx="292608" cy="219456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41464" y="1691640"/>
            <a:ext cx="1828800" cy="1234440"/>
          </a:xfrm>
          <a:prstGeom prst="roundRect">
            <a:avLst>
              <a:gd name="adj" fmla="val 15000"/>
            </a:avLst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Post-
processing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Clean &amp; format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015984" y="2194560"/>
            <a:ext cx="292608" cy="219456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54312" y="1691640"/>
            <a:ext cx="1828800" cy="123444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Evaluate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javac + unit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5029200" cy="292608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Segoe UI"/>
              </a:rPr>
              <a:t>Design choices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Base models: CodeLlama-7B → Qwen2.5-Coder-32B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PEFT: QLoRA (4-bit NF4 + LoRA adapters)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Swappable LLM module — fair cross-model comparison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Merge LoRA weights for efficient inference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337560"/>
            <a:ext cx="5577840" cy="2926080"/>
          </a:xfrm>
          <a:prstGeom prst="roundRect">
            <a:avLst>
              <a:gd name="adj" fmla="val 8000"/>
            </a:avLst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Segoe UI"/>
              </a:rPr>
              <a:t>7-step automation (run_pipeline.py)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977639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Build dataset → EDA &amp; filter → Bayesian Opt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Full QLoRA train → merge LoRA → inference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Pass@1 on HumanEval-Java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04  —  Method: QLoRA &amp; Bayesian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3520440" cy="50292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520440" cy="640080"/>
          </a:xfrm>
          <a:prstGeom prst="roundRect">
            <a:avLst>
              <a:gd name="adj" fmla="val 10000"/>
            </a:avLst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QLoRA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Freeze 4-bit quantized base weights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Train low-rank adapters: W = W₀ + BA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Target: q/k/v/o projections + MLP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NF4 quantization + paged optimizers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Trains on RTX 3060 12GB / H100 80GB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097280"/>
            <a:ext cx="3520440" cy="50292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097280"/>
            <a:ext cx="3520440" cy="6400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Bayesian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Optuna TPE over LoRA hyperparams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Search: rank r, alpha, dropout, LR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Proxy trials on ~10% data, 1 epoch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Objective: minimize eval loss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Export best_params.json → full train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097280"/>
            <a:ext cx="3520440" cy="50292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1097280"/>
            <a:ext cx="3520440" cy="640080"/>
          </a:xfrm>
          <a:prstGeom prst="roundRect">
            <a:avLst>
              <a:gd name="adj" fmla="val 10000"/>
            </a:avLst>
          </a:prstGeom>
          <a:solidFill>
            <a:srgbClr val="155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Training format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0116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Evol-Instruct-Code (~13k Java samples)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Completion: prefix (masked) + target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Class Problem wrapper (~80% samples)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Decontaminate vs HumanEval-Java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NEFTune + cosine LR schedule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05  — 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5303520" cy="22860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Segoe UI"/>
              </a:rPr>
              <a:t>Benchmark: HumanEval-Java (MultiPL-E)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161 Java programming problems with unit tests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Metric: Pass@1 (greedy decoding)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Aligned with BigCode Models Leaderboard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303520" cy="2286000"/>
          </a:xfrm>
          <a:prstGeom prst="roundRect">
            <a:avLst>
              <a:gd name="adj" fmla="val 8000"/>
            </a:avLst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Segoe UI"/>
              </a:rPr>
              <a:t>Evaluation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Generate Java method → post-process output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Compile with javac → run unit tests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Classify: PASSED / COMPILE_ERROR / FAILED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5146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Segoe UI"/>
              </a:rPr>
              <a:t>Error analysis drives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Group 1 — COMPILE_ERROR: syntax / structure issues → prompt directive + targeted repair pass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Group 2 — FAILED / TIMEOUT: logic &amp; reasoning gaps → requires stronger base model or richer training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06  —  Results: CodeLlama-7B + QLoRA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Hardware: RTX 3060 12GB  •  32 GB 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669280" cy="438912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Segoe UI"/>
              </a:rPr>
              <a:t>Pass@1 on HumanEval-Java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1214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Segoe UI"/>
              </a:rPr>
              <a:t>CodeLlama-7B (baseline)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214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4B8A6"/>
                </a:solidFill>
                <a:latin typeface="Segoe UI"/>
              </a:rPr>
              <a:t>29.20%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670048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77977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Segoe UI"/>
              </a:rPr>
              <a:t>CodeLlama-13B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7797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4B8A6"/>
                </a:solidFill>
                <a:latin typeface="Segoe UI"/>
              </a:rPr>
              <a:t>32.23%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328416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4381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Segoe UI"/>
              </a:rPr>
              <a:t>CodeLlama-34B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4381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4B8A6"/>
                </a:solidFill>
                <a:latin typeface="Segoe UI"/>
              </a:rPr>
              <a:t>40.19%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86784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965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220"/>
                </a:solidFill>
                <a:latin typeface="Segoe UI"/>
              </a:rPr>
              <a:t>CodeLlama-7B + QLoRA (ours)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0965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B1220"/>
                </a:solidFill>
                <a:latin typeface="Segoe UI"/>
              </a:rPr>
              <a:t>41.14%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45152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54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Segoe UI"/>
              </a:rPr>
              <a:t>CodeLlama-34B-Instruct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4B8A6"/>
                </a:solidFill>
                <a:latin typeface="Segoe UI"/>
              </a:rPr>
              <a:t>41.53%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303520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4132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Segoe UI"/>
              </a:rPr>
              <a:t>CodeLlama-70B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4132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4B8A6"/>
                </a:solidFill>
                <a:latin typeface="Segoe UI"/>
              </a:rPr>
              <a:t>44.72%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1280160"/>
            <a:ext cx="4937760" cy="4389120"/>
          </a:xfrm>
          <a:prstGeom prst="roundRect">
            <a:avLst>
              <a:gd name="adj" fmla="val 8000"/>
            </a:avLst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508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Segoe UI"/>
              </a:rPr>
              <a:t>Key 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0116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+11.9 pp over 7B baseline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7B fine-tuned model matches 34B-Instruct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PEFT on consumer GPU beats much larger frozen models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•  Training loss ↓ without overfitting signs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9788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F8FAFC"/>
                </a:solidFill>
                <a:latin typeface="Segoe UI"/>
              </a:rPr>
              <a:t>Target exceeded: 29.2% → 41.14%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07  —  Scaling Up: Qwen2.5-Coder-32B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Hardware: H100 80GB  •  Same pipeline, stronger base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6400800" cy="384048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Segoe UI"/>
              </a:rPr>
              <a:t>Incremental improvements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5852160" cy="530352"/>
          </a:xfrm>
          <a:prstGeom prst="roundRect">
            <a:avLst>
              <a:gd name="adj" fmla="val 12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Qwen2.5-Coder-32B (base)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57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4B8A6"/>
                </a:solidFill>
                <a:latin typeface="Segoe UI"/>
              </a:rPr>
              <a:t>65.49%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87752"/>
            <a:ext cx="5852160" cy="530352"/>
          </a:xfrm>
          <a:prstGeom prst="roundRect">
            <a:avLst>
              <a:gd name="adj" fmla="val 12000"/>
            </a:avLst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791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+ QLoRA SFT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7919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4B8A6"/>
                </a:solidFill>
                <a:latin typeface="Segoe UI"/>
              </a:rPr>
              <a:t>68.35%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09544"/>
            <a:ext cx="5852160" cy="530352"/>
          </a:xfrm>
          <a:prstGeom prst="roundRect">
            <a:avLst>
              <a:gd name="adj" fmla="val 12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30098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+ Prompt directive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0098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4B8A6"/>
                </a:solidFill>
                <a:latin typeface="Segoe UI"/>
              </a:rPr>
              <a:t>70.89%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31336"/>
            <a:ext cx="5852160" cy="530352"/>
          </a:xfrm>
          <a:prstGeom prst="roundRect">
            <a:avLst>
              <a:gd name="adj" fmla="val 12000"/>
            </a:avLst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2277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Qwen2.5-Coder-32B-Instruct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92277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4B8A6"/>
                </a:solidFill>
                <a:latin typeface="Segoe UI"/>
              </a:rPr>
              <a:t>73.69%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453128"/>
            <a:ext cx="5852160" cy="530352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5445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220"/>
                </a:solidFill>
                <a:latin typeface="Segoe UI"/>
              </a:rPr>
              <a:t>+ QLoRA + directive + repair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5445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B1220"/>
                </a:solidFill>
                <a:latin typeface="Segoe UI"/>
              </a:rPr>
              <a:t>80.38%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1234440"/>
            <a:ext cx="4251960" cy="3840480"/>
          </a:xfrm>
          <a:prstGeom prst="roundRect">
            <a:avLst>
              <a:gd name="adj" fmla="val 8000"/>
            </a:avLst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14630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Segoe UI"/>
              </a:rPr>
              <a:t>Improvement strategies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1874519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Prompt directive: enforce complete Java methods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Stop sequences to trim unwanted tokens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Repair pass: fix COMPILE_ERROR only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CBD5E1"/>
                </a:solidFill>
                <a:latin typeface="Segoe UI"/>
              </a:rPr>
              <a:t>•  No retraining needed for directive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5780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864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Repair pass yields the largest gain (+9.5 pp) by resolving missing symbols and helper methods — targeting failure modes beats blind retraining.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08  —  Demo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Flask web app — CodeLlama-7B + LoRA adapter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828800" cy="1143000"/>
          </a:xfrm>
          <a:prstGeom prst="roundRect">
            <a:avLst>
              <a:gd name="adj" fmla="val 15000"/>
            </a:avLst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User
Input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NL / signature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77440" y="2057400"/>
            <a:ext cx="292608" cy="201168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15768" y="1600200"/>
            <a:ext cx="1828800" cy="114300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Prompt
Enhancer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Java template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90288" y="2057400"/>
            <a:ext cx="292608" cy="201168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28616" y="1600200"/>
            <a:ext cx="1828800" cy="1143000"/>
          </a:xfrm>
          <a:prstGeom prst="roundRect">
            <a:avLst>
              <a:gd name="adj" fmla="val 15000"/>
            </a:avLst>
          </a:prstGeom>
          <a:solidFill>
            <a:srgbClr val="155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Model
Generate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Stream tokens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03136" y="2057400"/>
            <a:ext cx="292608" cy="201168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41464" y="1600200"/>
            <a:ext cx="1828800" cy="1143000"/>
          </a:xfrm>
          <a:prstGeom prst="roundRect">
            <a:avLst>
              <a:gd name="adj" fmla="val 15000"/>
            </a:avLst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javac
Verify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Compile check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015984" y="2057400"/>
            <a:ext cx="292608" cy="201168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54312" y="1600200"/>
            <a:ext cx="1828800" cy="114300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Run /
Download</a:t>
            </a:r>
          </a:p>
          <a:p>
            <a:pPr algn="ctr"/>
            <a:r>
              <a:rPr sz="1000" b="0">
                <a:solidFill>
                  <a:srgbClr val="CBD5E1"/>
                </a:solidFill>
                <a:latin typeface="Segoe UI"/>
              </a:rPr>
              <a:t>Test + 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63240"/>
            <a:ext cx="10881360" cy="27432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91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Segoe UI"/>
              </a:rPr>
              <a:t>Bridging research and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3 input modes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Natural language, function signature, full Java 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794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Prompt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069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Javadoc, class Problem wrapper, chain-of-thought hints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Real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46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javac compile + sandboxed java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572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Demo 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846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Sample presets, input suggestions, download Problem.java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Segoe UI"/>
              </a:rPr>
              <a:t>09  —  Conclusion &amp;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280160"/>
            <a:ext cx="457200" cy="457200"/>
          </a:xfrm>
          <a:prstGeom prst="ellipse">
            <a:avLst/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16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Segoe UI"/>
              </a:rPr>
              <a:t>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2161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End-to-end Java PEFT pipeline with Bayesian hyperparameter search and compile-aware repair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677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Segoe UI"/>
              </a:rPr>
              <a:t>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26771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41.14% Pass@1 (7B on RTX 3060) → 80.38% (32B + QLoRA + repair on H100)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383280"/>
            <a:ext cx="457200" cy="457200"/>
          </a:xfrm>
          <a:prstGeom prst="ellipse">
            <a:avLst/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192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Segoe UI"/>
              </a:rPr>
              <a:t>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3192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Failure-mode analysis + prompt engineering can match gains from larger 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06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434840"/>
            <a:ext cx="457200" cy="457200"/>
          </a:xfrm>
          <a:prstGeom prst="ellipse">
            <a:avLst/>
          </a:prstGeom>
          <a:solidFill>
            <a:srgbClr val="0E7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220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3708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Segoe UI"/>
              </a:rPr>
              <a:t>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37083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Automated HPO at scale • Java-specific datasets • multi-benchmark evaluation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8FAFC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4B8A6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Segoe UI"/>
              </a:rPr>
              <a:t>Pham Quynh Tran  •  HCMUT, VNU-HCM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