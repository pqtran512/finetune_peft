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10" d="100"/>
          <a:sy n="110" d="100"/>
        </p:scale>
        <p:origin x="594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4B8A6"/>
                </a:solidFill>
                <a:latin typeface="Segoe UI"/>
              </a:rPr>
              <a:t>ĐỒ ÁN / BÁO CÁO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40280"/>
            <a:ext cx="102412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8FAFC"/>
                </a:solidFill>
                <a:latin typeface="Segoe UI"/>
              </a:rPr>
              <a:t>Fine-tune CodeLlama cho
Java Code Completion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840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4A3B8"/>
                </a:solidFill>
                <a:latin typeface="Segoe UI"/>
              </a:rPr>
              <a:t>QLoRA  •  Bayesian Optimization  •  Prototype Web Demo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5029200"/>
            <a:ext cx="2194560" cy="347472"/>
          </a:xfrm>
          <a:prstGeom prst="roundRect">
            <a:avLst>
              <a:gd name="adj" fmla="val 50000"/>
            </a:avLst>
          </a:prstGeom>
          <a:solidFill>
            <a:srgbClr val="1A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0"/>
              </a:spcBef>
            </a:pPr>
            <a:r>
              <a:rPr sz="1100" b="1">
                <a:solidFill>
                  <a:srgbClr val="CBD5E1"/>
                </a:solidFill>
                <a:latin typeface="Segoe UI"/>
              </a:rPr>
              <a:t>CodeLlama-7B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0" y="5029200"/>
            <a:ext cx="2011680" cy="347472"/>
          </a:xfrm>
          <a:prstGeom prst="roundRect">
            <a:avLst>
              <a:gd name="adj" fmla="val 50000"/>
            </a:avLst>
          </a:prstGeom>
          <a:solidFill>
            <a:srgbClr val="1A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0"/>
              </a:spcBef>
            </a:pPr>
            <a:r>
              <a:rPr sz="1100" b="1">
                <a:solidFill>
                  <a:srgbClr val="CBD5E1"/>
                </a:solidFill>
                <a:latin typeface="Segoe UI"/>
              </a:rPr>
              <a:t>HumanEval-Java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94960" y="5029200"/>
            <a:ext cx="2377440" cy="347472"/>
          </a:xfrm>
          <a:prstGeom prst="roundRect">
            <a:avLst>
              <a:gd name="adj" fmla="val 50000"/>
            </a:avLst>
          </a:prstGeom>
          <a:solidFill>
            <a:srgbClr val="1A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0"/>
              </a:spcBef>
            </a:pPr>
            <a:r>
              <a:rPr sz="1100" b="1">
                <a:solidFill>
                  <a:srgbClr val="CBD5E1"/>
                </a:solidFill>
                <a:latin typeface="Segoe UI"/>
              </a:rPr>
              <a:t>Flask Prototype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8FAFC"/>
                </a:solidFill>
                <a:latin typeface="Segoe UI"/>
              </a:rPr>
              <a:t>01  —  Pipeline Fine-tune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229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Segoe UI"/>
              </a:rPr>
              <a:t>7 bước end-to-end (tự động hóa bởi run_pipeline.py)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45920"/>
            <a:ext cx="2148840" cy="1143000"/>
          </a:xfrm>
          <a:prstGeom prst="roundRect">
            <a:avLst>
              <a:gd name="adj" fmla="val 15000"/>
            </a:avLst>
          </a:prstGeom>
          <a:solidFill>
            <a:srgbClr val="0E7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8FAFC"/>
                </a:solidFill>
                <a:latin typeface="Segoe UI"/>
              </a:rPr>
              <a:t>1. Build
Dataset</a:t>
            </a:r>
          </a:p>
          <a:p>
            <a:pPr algn="ctr"/>
            <a:r>
              <a:rPr sz="1000" b="0">
                <a:solidFill>
                  <a:srgbClr val="CBD5E1"/>
                </a:solidFill>
                <a:latin typeface="Segoe UI"/>
              </a:rPr>
              <a:t>Evol + Magicoder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825496" y="2121408"/>
            <a:ext cx="256032" cy="201168"/>
          </a:xfrm>
          <a:prstGeom prst="rightArrow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3108960" y="1645920"/>
            <a:ext cx="2148840" cy="1143000"/>
          </a:xfrm>
          <a:prstGeom prst="roundRect">
            <a:avLst>
              <a:gd name="adj" fmla="val 15000"/>
            </a:avLst>
          </a:prstGeom>
          <a:solidFill>
            <a:srgbClr val="0E7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8FAFC"/>
                </a:solidFill>
                <a:latin typeface="Segoe UI"/>
              </a:rPr>
              <a:t>2. EDA &amp;
Lọc data</a:t>
            </a:r>
          </a:p>
          <a:p>
            <a:pPr algn="ctr"/>
            <a:r>
              <a:rPr sz="1000" b="0">
                <a:solidFill>
                  <a:srgbClr val="CBD5E1"/>
                </a:solidFill>
                <a:latin typeface="Segoe UI"/>
              </a:rPr>
              <a:t>Chống nhiễu OOD</a:t>
            </a:r>
          </a:p>
        </p:txBody>
      </p:sp>
      <p:sp>
        <p:nvSpPr>
          <p:cNvPr id="9" name="Right Arrow 8"/>
          <p:cNvSpPr/>
          <p:nvPr/>
        </p:nvSpPr>
        <p:spPr>
          <a:xfrm>
            <a:off x="5294376" y="2121408"/>
            <a:ext cx="256032" cy="201168"/>
          </a:xfrm>
          <a:prstGeom prst="rightArrow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577840" y="1645920"/>
            <a:ext cx="2148840" cy="1143000"/>
          </a:xfrm>
          <a:prstGeom prst="roundRect">
            <a:avLst>
              <a:gd name="adj" fmla="val 15000"/>
            </a:avLst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 dirty="0">
                <a:solidFill>
                  <a:srgbClr val="F8FAFC"/>
                </a:solidFill>
                <a:latin typeface="Segoe UI"/>
              </a:rPr>
              <a:t>3. Bayesian
Opt</a:t>
            </a:r>
          </a:p>
          <a:p>
            <a:pPr algn="ctr"/>
            <a:r>
              <a:rPr sz="1000" b="0" dirty="0" err="1">
                <a:solidFill>
                  <a:srgbClr val="CBD5E1"/>
                </a:solidFill>
                <a:latin typeface="Segoe UI"/>
              </a:rPr>
              <a:t>Tìm</a:t>
            </a:r>
            <a:r>
              <a:rPr sz="1000" b="0" dirty="0">
                <a:solidFill>
                  <a:srgbClr val="CBD5E1"/>
                </a:solidFill>
                <a:latin typeface="Segoe UI"/>
              </a:rPr>
              <a:t> </a:t>
            </a:r>
            <a:r>
              <a:rPr sz="1000" b="0" dirty="0" err="1">
                <a:solidFill>
                  <a:srgbClr val="CBD5E1"/>
                </a:solidFill>
                <a:latin typeface="Segoe UI"/>
              </a:rPr>
              <a:t>hyperparams</a:t>
            </a:r>
            <a:endParaRPr sz="1000" b="0" dirty="0">
              <a:solidFill>
                <a:srgbClr val="CBD5E1"/>
              </a:solidFill>
              <a:latin typeface="Segoe UI"/>
            </a:endParaRPr>
          </a:p>
        </p:txBody>
      </p:sp>
      <p:sp>
        <p:nvSpPr>
          <p:cNvPr id="11" name="Right Arrow 10"/>
          <p:cNvSpPr/>
          <p:nvPr/>
        </p:nvSpPr>
        <p:spPr>
          <a:xfrm>
            <a:off x="7763256" y="2121408"/>
            <a:ext cx="256032" cy="201168"/>
          </a:xfrm>
          <a:prstGeom prst="rightArrow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8046720" y="1645920"/>
            <a:ext cx="2148840" cy="1143000"/>
          </a:xfrm>
          <a:prstGeom prst="roundRect">
            <a:avLst>
              <a:gd name="adj" fmla="val 15000"/>
            </a:avLst>
          </a:prstGeom>
          <a:solidFill>
            <a:srgbClr val="1558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8FAFC"/>
                </a:solidFill>
                <a:latin typeface="Segoe UI"/>
              </a:rPr>
              <a:t>4. Full
Train</a:t>
            </a:r>
          </a:p>
          <a:p>
            <a:pPr algn="ctr"/>
            <a:r>
              <a:rPr sz="1000" b="0">
                <a:solidFill>
                  <a:srgbClr val="CBD5E1"/>
                </a:solidFill>
                <a:latin typeface="Segoe UI"/>
              </a:rPr>
              <a:t>QLoRA 4-bit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9464040" y="2880360"/>
            <a:ext cx="201168" cy="292608"/>
          </a:xfrm>
          <a:prstGeom prst="downArrow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2552547" y="3337560"/>
            <a:ext cx="2148840" cy="1143000"/>
          </a:xfrm>
          <a:prstGeom prst="roundRect">
            <a:avLst>
              <a:gd name="adj" fmla="val 15000"/>
            </a:avLst>
          </a:prstGeom>
          <a:solidFill>
            <a:srgbClr val="1558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8FAFC"/>
                </a:solidFill>
                <a:latin typeface="Segoe UI"/>
              </a:rPr>
              <a:t>5. Merge
LoRA</a:t>
            </a:r>
          </a:p>
          <a:p>
            <a:pPr algn="ctr"/>
            <a:r>
              <a:rPr sz="1000" b="0">
                <a:solidFill>
                  <a:srgbClr val="CBD5E1"/>
                </a:solidFill>
                <a:latin typeface="Segoe UI"/>
              </a:rPr>
              <a:t>Gắn vào base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4737963" y="3813048"/>
            <a:ext cx="256032" cy="201168"/>
          </a:xfrm>
          <a:prstGeom prst="rightArrow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5021427" y="3337560"/>
            <a:ext cx="2148840" cy="1143000"/>
          </a:xfrm>
          <a:prstGeom prst="roundRect">
            <a:avLst>
              <a:gd name="adj" fmla="val 15000"/>
            </a:avLst>
          </a:prstGeom>
          <a:solidFill>
            <a:srgbClr val="0E7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8FAFC"/>
                </a:solidFill>
                <a:latin typeface="Segoe UI"/>
              </a:rPr>
              <a:t>6. Inference</a:t>
            </a:r>
          </a:p>
          <a:p>
            <a:pPr algn="ctr"/>
            <a:r>
              <a:rPr sz="1000" b="0">
                <a:solidFill>
                  <a:srgbClr val="CBD5E1"/>
                </a:solidFill>
                <a:latin typeface="Segoe UI"/>
              </a:rPr>
              <a:t>HumanEval-Java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7206843" y="3813048"/>
            <a:ext cx="256032" cy="201168"/>
          </a:xfrm>
          <a:prstGeom prst="rightArrow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7490307" y="3337560"/>
            <a:ext cx="2148840" cy="1143000"/>
          </a:xfrm>
          <a:prstGeom prst="roundRect">
            <a:avLst>
              <a:gd name="adj" fmla="val 15000"/>
            </a:avLst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8FAFC"/>
                </a:solidFill>
                <a:latin typeface="Segoe UI"/>
              </a:rPr>
              <a:t>7. Evaluate</a:t>
            </a:r>
          </a:p>
          <a:p>
            <a:pPr algn="ctr"/>
            <a:r>
              <a:rPr sz="1000" b="0">
                <a:solidFill>
                  <a:srgbClr val="CBD5E1"/>
                </a:solidFill>
                <a:latin typeface="Segoe UI"/>
              </a:rPr>
              <a:t>pass@1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892040"/>
            <a:ext cx="10881360" cy="1371600"/>
          </a:xfrm>
          <a:prstGeom prst="roundRect">
            <a:avLst>
              <a:gd name="adj" fmla="val 8000"/>
            </a:avLst>
          </a:prstGeom>
          <a:solidFill>
            <a:srgbClr val="14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14400" y="50749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4B8A6"/>
                </a:solidFill>
                <a:latin typeface="Segoe UI"/>
              </a:rPr>
              <a:t>Điểm nhấn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44068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CBD5E1"/>
                </a:solidFill>
                <a:latin typeface="Segoe UI"/>
              </a:rPr>
              <a:t>•  Data completion (prefix/target) — không dùng chat format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CBD5E1"/>
                </a:solidFill>
                <a:latin typeface="Segoe UI"/>
              </a:rPr>
              <a:t>•  QLoRA trên RTX 3060 12GB  •  Hyperparams từ Optuna BO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8FAFC"/>
                </a:solidFill>
                <a:latin typeface="Segoe UI"/>
              </a:rPr>
              <a:t>02  —  Dataset &amp; Format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051560"/>
            <a:ext cx="5303520" cy="5120640"/>
          </a:xfrm>
          <a:prstGeom prst="roundRect">
            <a:avLst>
              <a:gd name="adj" fmla="val 8000"/>
            </a:avLst>
          </a:prstGeom>
          <a:solidFill>
            <a:srgbClr val="14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2801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4B8A6"/>
                </a:solidFill>
                <a:latin typeface="Segoe UI"/>
              </a:rPr>
              <a:t>Nguồn &amp; lọc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754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500" b="0">
                <a:solidFill>
                  <a:srgbClr val="CBD5E1"/>
                </a:solidFill>
                <a:latin typeface="Segoe UI"/>
              </a:rPr>
              <a:t>•  Evol-Instruct + Magicoder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CBD5E1"/>
                </a:solidFill>
                <a:latin typeface="Segoe UI"/>
              </a:rPr>
              <a:t>•  Map → {prefix, target}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CBD5E1"/>
                </a:solidFill>
                <a:latin typeface="Segoe UI"/>
              </a:rPr>
              <a:t>•  Lọc markdown / naked method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CBD5E1"/>
                </a:solidFill>
                <a:latin typeface="Segoe UI"/>
              </a:rPr>
              <a:t>•  Bọc class Problem (~80%)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CBD5E1"/>
                </a:solidFill>
                <a:latin typeface="Segoe UI"/>
              </a:rPr>
              <a:t>•  Lọc helper call lỗi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CBD5E1"/>
                </a:solidFill>
                <a:latin typeface="Segoe UI"/>
              </a:rPr>
              <a:t>•  Decontaminate HumanEval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051560"/>
            <a:ext cx="5303520" cy="5120640"/>
          </a:xfrm>
          <a:prstGeom prst="roundRect">
            <a:avLst>
              <a:gd name="adj" fmla="val 8000"/>
            </a:avLst>
          </a:prstGeom>
          <a:solidFill>
            <a:srgbClr val="1A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92240" y="12801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4B8A6"/>
                </a:solidFill>
                <a:latin typeface="Segoe UI"/>
              </a:rPr>
              <a:t>Mẫu huấn luyện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75120" y="1965960"/>
            <a:ext cx="4480560" cy="1554480"/>
          </a:xfrm>
          <a:prstGeom prst="roundRect">
            <a:avLst>
              <a:gd name="adj" fmla="val 15000"/>
            </a:avLst>
          </a:prstGeom>
          <a:solidFill>
            <a:srgbClr val="0E7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8FAFC"/>
                </a:solidFill>
                <a:latin typeface="Segoe UI"/>
              </a:rPr>
              <a:t>PREFIX  (loss off)</a:t>
            </a:r>
          </a:p>
          <a:p>
            <a:pPr algn="ctr"/>
            <a:r>
              <a:rPr sz="1000" b="0">
                <a:solidFill>
                  <a:srgbClr val="CBD5E1"/>
                </a:solidFill>
                <a:latin typeface="Segoe UI"/>
              </a:rPr>
              <a:t>imports + class Problem {
Javadoc + signature + {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8686800" y="3657600"/>
            <a:ext cx="228600" cy="274320"/>
          </a:xfrm>
          <a:prstGeom prst="downArrow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675120" y="4023360"/>
            <a:ext cx="4480560" cy="1554480"/>
          </a:xfrm>
          <a:prstGeom prst="roundRect">
            <a:avLst>
              <a:gd name="adj" fmla="val 15000"/>
            </a:avLst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8FAFC"/>
                </a:solidFill>
                <a:latin typeface="Segoe UI"/>
              </a:rPr>
              <a:t>TARGET  (loss on)</a:t>
            </a:r>
          </a:p>
          <a:p>
            <a:pPr algn="ctr"/>
            <a:r>
              <a:rPr sz="1000" b="0">
                <a:solidFill>
                  <a:srgbClr val="CBD5E1"/>
                </a:solidFill>
                <a:latin typeface="Segoe UI"/>
              </a:rPr>
              <a:t>method body + }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8FAFC"/>
                </a:solidFill>
                <a:latin typeface="Segoe UI"/>
              </a:rPr>
              <a:t>03  —  Training &amp; Evaluation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097280"/>
            <a:ext cx="3520440" cy="5029200"/>
          </a:xfrm>
          <a:prstGeom prst="roundRect">
            <a:avLst>
              <a:gd name="adj" fmla="val 8000"/>
            </a:avLst>
          </a:prstGeom>
          <a:solidFill>
            <a:srgbClr val="14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40080" y="1097280"/>
            <a:ext cx="3520440" cy="640080"/>
          </a:xfrm>
          <a:prstGeom prst="roundRect">
            <a:avLst>
              <a:gd name="adj" fmla="val 10000"/>
            </a:avLst>
          </a:prstGeom>
          <a:solidFill>
            <a:srgbClr val="0E7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8FAFC"/>
                </a:solidFill>
                <a:latin typeface="Segoe UI"/>
              </a:rPr>
              <a:t>Bayesian Opt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30632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1400" b="0">
                <a:solidFill>
                  <a:srgbClr val="CBD5E1"/>
                </a:solidFill>
                <a:latin typeface="Segoe UI"/>
              </a:rPr>
              <a:t>•  Optuna TPE</a:t>
            </a:r>
          </a:p>
          <a:p>
            <a:pPr algn="l">
              <a:spcAft>
                <a:spcPts val="1400"/>
              </a:spcAft>
            </a:pPr>
            <a:r>
              <a:rPr sz="1400" b="0">
                <a:solidFill>
                  <a:srgbClr val="CBD5E1"/>
                </a:solidFill>
                <a:latin typeface="Segoe UI"/>
              </a:rPr>
              <a:t>•  Proxy: ~8% data / 1 epoch</a:t>
            </a:r>
          </a:p>
          <a:p>
            <a:pPr algn="l">
              <a:spcAft>
                <a:spcPts val="1400"/>
              </a:spcAft>
            </a:pPr>
            <a:r>
              <a:rPr sz="1400" b="0">
                <a:solidFill>
                  <a:srgbClr val="CBD5E1"/>
                </a:solidFill>
                <a:latin typeface="Segoe UI"/>
              </a:rPr>
              <a:t>•  Minimize eval_loss</a:t>
            </a:r>
          </a:p>
          <a:p>
            <a:pPr algn="l">
              <a:spcAft>
                <a:spcPts val="1400"/>
              </a:spcAft>
            </a:pPr>
            <a:r>
              <a:rPr sz="1400" b="0">
                <a:solidFill>
                  <a:srgbClr val="CBD5E1"/>
                </a:solidFill>
                <a:latin typeface="Segoe UI"/>
              </a:rPr>
              <a:t>•  Xuất best_params.json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1097280"/>
            <a:ext cx="3520440" cy="5029200"/>
          </a:xfrm>
          <a:prstGeom prst="roundRect">
            <a:avLst>
              <a:gd name="adj" fmla="val 8000"/>
            </a:avLst>
          </a:prstGeom>
          <a:solidFill>
            <a:srgbClr val="14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480560" y="1097280"/>
            <a:ext cx="3520440" cy="640080"/>
          </a:xfrm>
          <a:prstGeom prst="roundRect">
            <a:avLst>
              <a:gd name="adj" fmla="val 10000"/>
            </a:avLst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8FAFC"/>
                </a:solidFill>
                <a:latin typeface="Segoe UI"/>
              </a:rPr>
              <a:t>QLoRA Train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2011680"/>
            <a:ext cx="30632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1400" b="0">
                <a:solidFill>
                  <a:srgbClr val="CBD5E1"/>
                </a:solidFill>
                <a:latin typeface="Segoe UI"/>
              </a:rPr>
              <a:t>•  CodeLlama-7B + 4-bit</a:t>
            </a:r>
          </a:p>
          <a:p>
            <a:pPr algn="l">
              <a:spcAft>
                <a:spcPts val="1400"/>
              </a:spcAft>
            </a:pPr>
            <a:r>
              <a:rPr sz="1400" b="0">
                <a:solidFill>
                  <a:srgbClr val="CBD5E1"/>
                </a:solidFill>
                <a:latin typeface="Segoe UI"/>
              </a:rPr>
              <a:t>•  LoRA: q/k/v/o + MLP</a:t>
            </a:r>
          </a:p>
          <a:p>
            <a:pPr algn="l">
              <a:spcAft>
                <a:spcPts val="1400"/>
              </a:spcAft>
            </a:pPr>
            <a:r>
              <a:rPr sz="1400" b="0">
                <a:solidFill>
                  <a:srgbClr val="CBD5E1"/>
                </a:solidFill>
                <a:latin typeface="Segoe UI"/>
              </a:rPr>
              <a:t>•  NEFTune • cosine LR</a:t>
            </a:r>
          </a:p>
          <a:p>
            <a:pPr algn="l">
              <a:spcAft>
                <a:spcPts val="1400"/>
              </a:spcAft>
            </a:pPr>
            <a:r>
              <a:rPr sz="1400" b="0">
                <a:solidFill>
                  <a:srgbClr val="CBD5E1"/>
                </a:solidFill>
                <a:latin typeface="Segoe UI"/>
              </a:rPr>
              <a:t>•  Adapter: evol_completion_bo_v2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1097280"/>
            <a:ext cx="3520440" cy="5029200"/>
          </a:xfrm>
          <a:prstGeom prst="roundRect">
            <a:avLst>
              <a:gd name="adj" fmla="val 8000"/>
            </a:avLst>
          </a:prstGeom>
          <a:solidFill>
            <a:srgbClr val="14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8321040" y="1097280"/>
            <a:ext cx="3520440" cy="640080"/>
          </a:xfrm>
          <a:prstGeom prst="roundRect">
            <a:avLst>
              <a:gd name="adj" fmla="val 10000"/>
            </a:avLst>
          </a:prstGeom>
          <a:solidFill>
            <a:srgbClr val="1558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8FAFC"/>
                </a:solidFill>
                <a:latin typeface="Segoe UI"/>
              </a:rPr>
              <a:t>Evaluate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0" y="2011680"/>
            <a:ext cx="30632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1400" b="0">
                <a:solidFill>
                  <a:srgbClr val="CBD5E1"/>
                </a:solidFill>
                <a:latin typeface="Segoe UI"/>
              </a:rPr>
              <a:t>•  Merge LoRA → base</a:t>
            </a:r>
          </a:p>
          <a:p>
            <a:pPr algn="l">
              <a:spcAft>
                <a:spcPts val="1400"/>
              </a:spcAft>
            </a:pPr>
            <a:r>
              <a:rPr sz="1400" b="0">
                <a:solidFill>
                  <a:srgbClr val="CBD5E1"/>
                </a:solidFill>
                <a:latin typeface="Segoe UI"/>
              </a:rPr>
              <a:t>•  Inference HumanEval-Java</a:t>
            </a:r>
          </a:p>
          <a:p>
            <a:pPr algn="l">
              <a:spcAft>
                <a:spcPts val="1400"/>
              </a:spcAft>
            </a:pPr>
            <a:r>
              <a:rPr sz="1400" b="0">
                <a:solidFill>
                  <a:srgbClr val="CBD5E1"/>
                </a:solidFill>
                <a:latin typeface="Segoe UI"/>
              </a:rPr>
              <a:t>•  Đo pass@1</a:t>
            </a:r>
          </a:p>
          <a:p>
            <a:pPr algn="l">
              <a:spcAft>
                <a:spcPts val="1400"/>
              </a:spcAft>
            </a:pPr>
            <a:r>
              <a:rPr sz="1400" b="0">
                <a:solidFill>
                  <a:srgbClr val="CBD5E1"/>
                </a:solidFill>
                <a:latin typeface="Segoe UI"/>
              </a:rPr>
              <a:t>•  Phân loại: PASS / COMPILE / FAIL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8FAFC"/>
                </a:solidFill>
                <a:latin typeface="Segoe UI"/>
              </a:rPr>
              <a:t>04  —  Prototype: Java AI Code Generator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229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Segoe UI"/>
              </a:rPr>
              <a:t>Flask Web  •  CodeLlama-7B + LoRA  •  Prompt Enhancer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828800"/>
            <a:ext cx="1828800" cy="1234440"/>
          </a:xfrm>
          <a:prstGeom prst="roundRect">
            <a:avLst>
              <a:gd name="adj" fmla="val 15000"/>
            </a:avLst>
          </a:prstGeom>
          <a:solidFill>
            <a:srgbClr val="0E7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8FAFC"/>
                </a:solidFill>
                <a:latin typeface="Segoe UI"/>
              </a:rPr>
              <a:t>User
Input</a:t>
            </a:r>
          </a:p>
          <a:p>
            <a:pPr algn="ctr"/>
            <a:r>
              <a:rPr sz="1000" b="0">
                <a:solidFill>
                  <a:srgbClr val="CBD5E1"/>
                </a:solidFill>
                <a:latin typeface="Segoe UI"/>
              </a:rPr>
              <a:t>NL / Signature / Java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377440" y="2331720"/>
            <a:ext cx="292608" cy="219456"/>
          </a:xfrm>
          <a:prstGeom prst="rightArrow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2715768" y="1828800"/>
            <a:ext cx="1828800" cy="1234440"/>
          </a:xfrm>
          <a:prstGeom prst="roundRect">
            <a:avLst>
              <a:gd name="adj" fmla="val 15000"/>
            </a:avLst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8FAFC"/>
                </a:solidFill>
                <a:latin typeface="Segoe UI"/>
              </a:rPr>
              <a:t>Prompt
Enhancer</a:t>
            </a:r>
          </a:p>
          <a:p>
            <a:pPr algn="ctr"/>
            <a:r>
              <a:rPr sz="1000" b="0">
                <a:solidFill>
                  <a:srgbClr val="CBD5E1"/>
                </a:solidFill>
                <a:latin typeface="Segoe UI"/>
              </a:rPr>
              <a:t>Chuẩn hóa format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590288" y="2331720"/>
            <a:ext cx="292608" cy="219456"/>
          </a:xfrm>
          <a:prstGeom prst="rightArrow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928616" y="1828800"/>
            <a:ext cx="1828800" cy="1234440"/>
          </a:xfrm>
          <a:prstGeom prst="roundRect">
            <a:avLst>
              <a:gd name="adj" fmla="val 15000"/>
            </a:avLst>
          </a:prstGeom>
          <a:solidFill>
            <a:srgbClr val="1558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8FAFC"/>
                </a:solidFill>
                <a:latin typeface="Segoe UI"/>
              </a:rPr>
              <a:t>Model
Generate</a:t>
            </a:r>
          </a:p>
          <a:p>
            <a:pPr algn="ctr"/>
            <a:r>
              <a:rPr sz="1000" b="0">
                <a:solidFill>
                  <a:srgbClr val="CBD5E1"/>
                </a:solidFill>
                <a:latin typeface="Segoe UI"/>
              </a:rPr>
              <a:t>Stream tokens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6803136" y="2331720"/>
            <a:ext cx="292608" cy="219456"/>
          </a:xfrm>
          <a:prstGeom prst="rightArrow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7141464" y="1828800"/>
            <a:ext cx="1828800" cy="1234440"/>
          </a:xfrm>
          <a:prstGeom prst="roundRect">
            <a:avLst>
              <a:gd name="adj" fmla="val 15000"/>
            </a:avLst>
          </a:prstGeom>
          <a:solidFill>
            <a:srgbClr val="0E7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8FAFC"/>
                </a:solidFill>
                <a:latin typeface="Segoe UI"/>
              </a:rPr>
              <a:t>Clean +
jvac check</a:t>
            </a:r>
          </a:p>
          <a:p>
            <a:pPr algn="ctr"/>
            <a:r>
              <a:rPr sz="1000" b="0">
                <a:solidFill>
                  <a:srgbClr val="CBD5E1"/>
                </a:solidFill>
                <a:latin typeface="Segoe UI"/>
              </a:rPr>
              <a:t>Sửa output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9015984" y="2331720"/>
            <a:ext cx="292608" cy="219456"/>
          </a:xfrm>
          <a:prstGeom prst="rightArrow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9354312" y="1828800"/>
            <a:ext cx="1828800" cy="1234440"/>
          </a:xfrm>
          <a:prstGeom prst="roundRect">
            <a:avLst>
              <a:gd name="adj" fmla="val 15000"/>
            </a:avLst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8FAFC"/>
                </a:solidFill>
                <a:latin typeface="Segoe UI"/>
              </a:rPr>
              <a:t>Run /
Download</a:t>
            </a:r>
          </a:p>
          <a:p>
            <a:pPr algn="ctr"/>
            <a:r>
              <a:rPr sz="1000" b="0">
                <a:solidFill>
                  <a:srgbClr val="CBD5E1"/>
                </a:solidFill>
                <a:latin typeface="Segoe UI"/>
              </a:rPr>
              <a:t>Test + .java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657600"/>
            <a:ext cx="10881360" cy="2468880"/>
          </a:xfrm>
          <a:prstGeom prst="roundRect">
            <a:avLst>
              <a:gd name="adj" fmla="val 8000"/>
            </a:avLst>
          </a:prstGeom>
          <a:solidFill>
            <a:srgbClr val="14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4400" y="3886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4B8A6"/>
                </a:solidFill>
                <a:latin typeface="Segoe UI"/>
              </a:rPr>
              <a:t>Khả năng chính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38912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8FAFC"/>
                </a:solidFill>
                <a:latin typeface="Segoe UI"/>
              </a:rPr>
              <a:t>3 kiểu đầu vào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66344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Segoe UI"/>
              </a:rPr>
              <a:t>Ngôn ngữ tự nhiên, chữ ký hàm, class đầy đủ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438912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8FAFC"/>
                </a:solidFill>
                <a:latin typeface="Segoe UI"/>
              </a:rPr>
              <a:t>Prompt rules ND4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466344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Segoe UI"/>
              </a:rPr>
              <a:t>Javadoc, class Problem, CoT, language tag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16636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8FAFC"/>
                </a:solidFill>
                <a:latin typeface="Segoe UI"/>
              </a:rPr>
              <a:t>Verify thực tế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44068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Segoe UI"/>
              </a:rPr>
              <a:t>Biên dịch javac + chạy java trong sandbox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516636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8FAFC"/>
                </a:solidFill>
                <a:latin typeface="Segoe UI"/>
              </a:rPr>
              <a:t>UX demo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544068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Segoe UI"/>
              </a:rPr>
              <a:t>Preset bài mẫu • gợi ý input • tải Problem.java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8FAFC"/>
                </a:solidFill>
                <a:latin typeface="Segoe UI"/>
              </a:rPr>
              <a:t>05  —  Tóm tắt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188720"/>
            <a:ext cx="10881360" cy="960120"/>
          </a:xfrm>
          <a:prstGeom prst="roundRect">
            <a:avLst>
              <a:gd name="adj" fmla="val 8000"/>
            </a:avLst>
          </a:prstGeom>
          <a:solidFill>
            <a:srgbClr val="14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14400" y="1444752"/>
            <a:ext cx="457200" cy="457200"/>
          </a:xfrm>
          <a:prstGeom prst="ellipse">
            <a:avLst/>
          </a:prstGeom>
          <a:solidFill>
            <a:srgbClr val="0E7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B1220"/>
                </a:solidFill>
                <a:latin typeface="Segoe U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137160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4B8A6"/>
                </a:solidFill>
                <a:latin typeface="Segoe UI"/>
              </a:rPr>
              <a:t>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49039" y="1371600"/>
            <a:ext cx="7315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BD5E1"/>
                </a:solidFill>
                <a:latin typeface="Segoe UI"/>
              </a:rPr>
              <a:t>Evol/Magicoder → completion Java, lọc nhiễu, khớp HumanEval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286000"/>
            <a:ext cx="10881360" cy="960120"/>
          </a:xfrm>
          <a:prstGeom prst="roundRect">
            <a:avLst>
              <a:gd name="adj" fmla="val 8000"/>
            </a:avLst>
          </a:prstGeom>
          <a:solidFill>
            <a:srgbClr val="14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914400" y="2542032"/>
            <a:ext cx="457200" cy="457200"/>
          </a:xfrm>
          <a:prstGeom prst="ellipse">
            <a:avLst/>
          </a:prstGeom>
          <a:solidFill>
            <a:srgbClr val="0E7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B1220"/>
                </a:solidFill>
                <a:latin typeface="Segoe U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246888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4B8A6"/>
                </a:solidFill>
                <a:latin typeface="Segoe UI"/>
              </a:rPr>
              <a:t>Train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2468880"/>
            <a:ext cx="7315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BD5E1"/>
                </a:solidFill>
                <a:latin typeface="Segoe UI"/>
              </a:rPr>
              <a:t>QLoRA CodeLlama-7B + Bayesian Optimization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383280"/>
            <a:ext cx="10881360" cy="960120"/>
          </a:xfrm>
          <a:prstGeom prst="roundRect">
            <a:avLst>
              <a:gd name="adj" fmla="val 8000"/>
            </a:avLst>
          </a:prstGeom>
          <a:solidFill>
            <a:srgbClr val="14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914400" y="3639312"/>
            <a:ext cx="457200" cy="457200"/>
          </a:xfrm>
          <a:prstGeom prst="ellipse">
            <a:avLst/>
          </a:prstGeom>
          <a:solidFill>
            <a:srgbClr val="0E7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B1220"/>
                </a:solidFill>
                <a:latin typeface="Segoe U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356616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4B8A6"/>
                </a:solidFill>
                <a:latin typeface="Segoe UI"/>
              </a:rPr>
              <a:t>Eval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49039" y="3566160"/>
            <a:ext cx="7315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BD5E1"/>
                </a:solidFill>
                <a:latin typeface="Segoe UI"/>
              </a:rPr>
              <a:t>pass@1 trên HumanEval-Java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480560"/>
            <a:ext cx="10881360" cy="960120"/>
          </a:xfrm>
          <a:prstGeom prst="roundRect">
            <a:avLst>
              <a:gd name="adj" fmla="val 8000"/>
            </a:avLst>
          </a:prstGeom>
          <a:solidFill>
            <a:srgbClr val="14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914400" y="4736592"/>
            <a:ext cx="457200" cy="45720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B1220"/>
                </a:solidFill>
                <a:latin typeface="Segoe U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466344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4B8A6"/>
                </a:solidFill>
                <a:latin typeface="Segoe UI"/>
              </a:rPr>
              <a:t>Prototype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49039" y="4663440"/>
            <a:ext cx="7315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BD5E1"/>
                </a:solidFill>
                <a:latin typeface="Segoe UI"/>
              </a:rPr>
              <a:t>Web demo: enhance → generate → compile → run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331</Words>
  <Application>Microsoft Office PowerPoint</Application>
  <PresentationFormat>Widescreen</PresentationFormat>
  <Paragraphs>88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Microsoft account</cp:lastModifiedBy>
  <cp:revision>1</cp:revision>
  <dcterms:created xsi:type="dcterms:W3CDTF">2013-01-27T09:14:16Z</dcterms:created>
  <dcterms:modified xsi:type="dcterms:W3CDTF">2026-08-31T16:30:01Z</dcterms:modified>
  <cp:category/>
</cp:coreProperties>
</file>